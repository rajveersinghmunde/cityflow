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73152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HACKATHON SUBMISSION  ·  PROBLEM STATEMENT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CityFlow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BD5E1"/>
                </a:solidFill>
                <a:latin typeface="Calibri"/>
              </a:rPr>
              <a:t>Event-Driven Congestion Intelligence for Bengaluru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A Graph-AI digital twin that turns 8,205 historical traffic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into a learnable, data-driven playbook for every rally, breakdown, and festival.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3258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6035040"/>
            <a:ext cx="13258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603504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6035040"/>
            <a:ext cx="13258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603504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6035040"/>
            <a:ext cx="13258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603504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468880"/>
            <a:ext cx="73152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Math &amp; Technical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The math, the ML, the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Event-driven congestion is unquantified, unplanned, and unforgotten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Political rallies. Festivals. Sports events. Construction. Sudden breakdowns. Every day in Bengaluru, the city loses hours of productivity because we cannot answer three questions: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 i="0">
                <a:solidFill>
                  <a:srgbClr val="1D4ED8"/>
                </a:solidFill>
                <a:latin typeface="Calibri"/>
              </a:rPr>
              <a:t>•  How bad will this event be?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 i="0">
                <a:solidFill>
                  <a:srgbClr val="1D4ED8"/>
                </a:solidFill>
                <a:latin typeface="Calibri"/>
              </a:rPr>
              <a:t>•  Where should the police go?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800" b="1" i="0">
                <a:solidFill>
                  <a:srgbClr val="1D4ED8"/>
                </a:solidFill>
                <a:latin typeface="Calibri"/>
              </a:rPr>
              <a:t>•  Which routes should drivers take?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1">
                <a:solidFill>
                  <a:srgbClr val="334155"/>
                </a:solidFill>
                <a:latin typeface="Calibri"/>
              </a:rPr>
              <a:t>Today, all three are answered by experience and gut feel. Nobody learns from the last event.</a:t>
            </a:r>
          </a:p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CityFlow turns 8,205 historical Bengaluru traffic incidents into a learnable, mathematically grounded playbook for every event that disrupts the 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dataset/2.csv — the city's own incident 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82880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0311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8,205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19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total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3744" y="1874519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23744" y="1874519"/>
            <a:ext cx="182880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23744" y="210311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151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274319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days of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848" y="1874519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1874519"/>
            <a:ext cx="182880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10311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7,706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74319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unplanned (94.3%)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874519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3952" y="1874519"/>
            <a:ext cx="182880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10311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467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74319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planned (5.7%)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49056" y="1874519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9056" y="1874519"/>
            <a:ext cx="182880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210311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870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74319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Kannada descriptions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24160" y="1874519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1874519"/>
            <a:ext cx="182880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210311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1,007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74319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censored (right-censored)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20440"/>
            <a:ext cx="11091672" cy="10058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611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Headline insight from the raw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886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BMTC buses take 77.5 min to clear · private cars take 38.5 min — a 2× gap, visible in the raw data without any modelling.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709160"/>
            <a:ext cx="1109167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334155"/>
                </a:solidFill>
                <a:latin typeface="Calibri"/>
              </a:rPr>
              <a:t>Training cohorts we will use later: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2,983 rows with both start and close timestamps → Cox Proportional Hazards survival model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137 rows with a route_path line-string → snap closures to real OSM edges for planned events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6,813 free-text operator descriptions → multilingual NLP weak-label classifier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Four pillars, one JSON API, every component replaceable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1091672" cy="502920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9383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dataset / 2.csv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929383"/>
            <a:ext cx="7891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8,205 Bengaluru traffic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77439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42031"/>
            <a:ext cx="110916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9689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DataPipeline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596895"/>
            <a:ext cx="7891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72A"/>
                </a:solidFill>
                <a:latin typeface="Calibri"/>
              </a:rPr>
              <a:t>clean · filter · separate planned vs unplanned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44951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9543"/>
            <a:ext cx="110916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6440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ML models (parallel)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264407"/>
            <a:ext cx="7891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72A"/>
                </a:solidFill>
                <a:latin typeface="Calibri"/>
              </a:rPr>
              <a:t>Severity GBM+RF  ·  Cox PH  ·  Hotspot  ·  LaBSE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12463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77055"/>
            <a:ext cx="110916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319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GraphEngine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931919"/>
            <a:ext cx="7891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72A"/>
                </a:solidFill>
                <a:latin typeface="Calibri"/>
              </a:rPr>
              <a:t>cached Bengaluru OSMnx graph  (155K nodes · 393K edges)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79975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44567"/>
            <a:ext cx="11091672" cy="502920"/>
          </a:xfrm>
          <a:prstGeom prst="rect">
            <a:avLst/>
          </a:prstGeom>
          <a:solidFill>
            <a:srgbClr val="1D4ED8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99431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CongestionSimulator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599431"/>
            <a:ext cx="7891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BPR shockwave · Dijkstra · barricades · diversion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47487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12079"/>
            <a:ext cx="110916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66943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ManpowerAllocator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266943"/>
            <a:ext cx="7891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72A"/>
                </a:solidFill>
                <a:latin typeface="Calibri"/>
              </a:rPr>
              <a:t>linear formula · refit via np.linalg.lstsq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14999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879591"/>
            <a:ext cx="11091672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93445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Flask API  +  SQLite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5934455"/>
            <a:ext cx="7891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async task queue · operational 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82511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547103"/>
            <a:ext cx="11091672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601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+ Vite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6601967"/>
            <a:ext cx="7891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5-step Story view · Plan view · dark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MATH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MATH #1 · BPR TRAVEL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How travel time grows as a road fills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BUREAU OF PUBLIC ROADS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onsolas"/>
              </a:rPr>
              <a:t>t  =  t₀  ·  ( 1  +  α  ·  ( V / C ) ^ β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1091672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Where: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t₀   = free-flow travel time on the edge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V   = vehicle volume (per hour)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C   = capacity of the edge (per hour)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α   = 0.15   ·   β = 4  (standard coefficients)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0" i="1">
                <a:solidFill>
                  <a:srgbClr val="334155"/>
                </a:solidFill>
                <a:latin typeface="Calibri"/>
              </a:rPr>
              <a:t>The β = 4 exponent is what gives the curve its hockey-stick shape — travel time stays close to free-flow until V/C approaches 0.8, then explodes.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E11D48"/>
                </a:solidFill>
                <a:latin typeface="Calibri"/>
              </a:rPr>
              <a:t>Why a uniform scalar is useless: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If every edge is scaled by the same number, the shortest path between two nodes is mathematically unchanged. We need per-class, per-hour differentiation (see slide on time-of-day weighting).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MATH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MATH #2 · REVERSE-BFS SHOCKWAVE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Congestion propagates upstream along the road graph, not radially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394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164592" cy="24688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0116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11D48"/>
                </a:solidFill>
                <a:latin typeface="Calibri"/>
              </a:rPr>
              <a:t>Naïve: Euclidean 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688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Blocks every road within a radius of the event.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A parallel highway 300 m away but separated by a river is wrongly shut.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A dead-end alley 200 m away is treated as 12.5 acres of gridlock.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828800"/>
            <a:ext cx="5394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828800"/>
            <a:ext cx="164592" cy="24688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0116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CityFlow: reverse-BFS on the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4688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Walks incoming edges from the epicenter.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Respects topology — roads only blocked if connected to the event.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Each edge's capacity decays with its graph distance from the epicenter.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11091672" cy="1828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CAPACITY DECAY  (per edge at graph distance d from the epicenter)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if d ≤ closure_radius (50m):         capacity ← capacity × 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elif d ≤ spillover_radius (1km):     capacity ← capacity × (0.1 + 0.9 · d / 1000)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else:                                                                  capacity unchanged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MATH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MATH #3 · VOLUME-AWARE FLOW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Up to 3 arterial OD movements, ranked by traffic they actually carry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9167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For every boundary node upstream and every boundary node downstream of the event: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Run Dijkstra from origin → epicenter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Run Dijkstra from epicenter → destination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Concatenate, score, and rank</a:t>
            </a:r>
          </a:p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334155"/>
                </a:solidFill>
                <a:latin typeface="Calibri"/>
              </a:rPr>
              <a:t>Pick the top 3, with the constraint that no two share the same origin or destination — we never get two flows that are really the same corridor.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11091672" cy="10972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SCORING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onsolas"/>
              </a:rPr>
              <a:t>score  =  distance_km  ×  average_road_capacity_along_route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334155"/>
                </a:solidFill>
                <a:latin typeface="Calibri"/>
              </a:rPr>
              <a:t>Longer, more arterial routes carry more vehicles → volume proxy without needing a demand matrix.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MATH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MATH #4 · POLICE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 barricade without police is a suggestion, not a barricade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91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Bengaluru compliance with un-manned barricades ≈ 40%.  With police ≈ 95%.</a:t>
            </a:r>
          </a:p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We model this with a single binary flag passed through the simulator.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5394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20440"/>
            <a:ext cx="164592" cy="24688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onsolas"/>
              </a:rPr>
              <a:t>police_deployed = 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40%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Closed edges stay in the graph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Their travel time is multiplied by 1 / 0.4 = 2.5×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Captures the non-compliance cost without removing the edge's existence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3520440"/>
            <a:ext cx="5394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3520440"/>
            <a:ext cx="164592" cy="24688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7033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onsolas"/>
              </a:rPr>
              <a:t>police_deployed = 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1148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95%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6177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Closed edges are removed from the graph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Dijkstra routes through alternative paths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API returns both scenarios — operators see how much of the win is police presence vs. geometry alone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MATH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MATH #5 · PER-CLASS TIME-OF-DAY WEIGHTING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Make the recommended route actually differ between peak and night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91672" cy="10058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DIFFERENTIAL WEIGHTING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onsolas"/>
              </a:rPr>
              <a:t>multiplier = max( 0.1,  1 + ( hourly_mult − 1 ) × sensitivity[highway] 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11091672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Highway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1089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Sensitivity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08960"/>
            <a:ext cx="5148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At rush (hourly_mult = 1.6)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motorway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5204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1.6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520440"/>
            <a:ext cx="5148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1 + 0.6 × 1.6 = 1.96×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1109167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31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trunk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931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931920"/>
            <a:ext cx="5148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1 + 0.6 × 1.5 = 1.90×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4340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343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3434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1.4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343400"/>
            <a:ext cx="5148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1 + 0.6 × 1.4 = 1.84×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54880"/>
            <a:ext cx="1109167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7548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secondary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7548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1.2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754880"/>
            <a:ext cx="5148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1 + 0.6 × 1.2 = 1.72×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6636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166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residential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51663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0.7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66360"/>
            <a:ext cx="5148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1 + 0.6 × 0.7 = 1.42×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334155"/>
                </a:solidFill>
                <a:latin typeface="Calibri"/>
              </a:rPr>
              <a:t>Arterials amplify the rush signal · residential roads dampen it.  At 3 AM the relationship inverts.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MATH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MATH #6 · CONTINUOUS-FLOW BARRICADES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Never trap a vehicle into a U-turn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91672" cy="1188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NAÏVE FLAW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Place a barricade at the immediate upstream node u.  If u is a dead-end, cars hit the barricade, can't turn around, and gridlock.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11091672" cy="1005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Walk upstream from each closed edge until a node has a safe exit.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11091672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SAFE OUT-DEGREE  (criteria for placing a barricade at node 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</a:rPr>
              <a:t>safe_out_degree(n)  =  | { v : (n, v) is open  and  v ≠ epicenter } |   ≥ 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34155"/>
                </a:solidFill>
                <a:latin typeface="Calibri"/>
              </a:rPr>
              <a:t>If no upstream node has a safe exit, the barricade is dropped.  Every recommended barricade is then validated: it must block ≥ 1 closure entry AND offer ≥ 1 alternate exit.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ML #1 · SEVERITY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Two heads: continuous resolution time + discrete response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64592" cy="4206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0573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Head 1 · Gradient Boosting Regressor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14599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Predicts log(1 + resolution_minutes) — log-space to handle right-skewed clearance times.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334155"/>
                </a:solidFill>
                <a:latin typeface="Calibri"/>
              </a:rPr>
              <a:t>Features: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•  cause, event_type, requires_closure, priority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•  hour_sin / hour_cos (cyclical time encoding)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•  day_of_week, zone, spatial_cluster (KMeans)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•  junction_hotspot_score (historical frequency)</a:t>
            </a:r>
          </a:p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334155"/>
                </a:solidFill>
                <a:latin typeface="Calibri"/>
              </a:rPr>
              <a:t>5-fold cross-validation, R² reported for transparency.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874519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874519"/>
            <a:ext cx="164592" cy="4206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0573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Head 2 · Random Forest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514599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Three response levels, thresholded on resolution time: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i="0">
                <a:solidFill>
                  <a:srgbClr val="059669"/>
                </a:solidFill>
                <a:latin typeface="Calibri"/>
              </a:rPr>
              <a:t>•  Green:  ≤ 60 minutes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i="0">
                <a:solidFill>
                  <a:srgbClr val="D97706"/>
                </a:solidFill>
                <a:latin typeface="Calibri"/>
              </a:rPr>
              <a:t>•  Amber:  ≤ 480 minutes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i="0">
                <a:solidFill>
                  <a:srgbClr val="E11D48"/>
                </a:solidFill>
                <a:latin typeface="Calibri"/>
              </a:rPr>
              <a:t>•  Red:    otherwise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334155"/>
                </a:solidFill>
                <a:latin typeface="Calibri"/>
              </a:rPr>
              <a:t>Scenario modifiers for planned events: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•  35,000 attendance → +1.0 score bonus, ×1.35 minutes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•  5,000 attendance  → +0.5 score bonus, ×1.15 minutes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•  Full closure      → +0.5 score bonus, ×1.20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ML #2 · COX PROPORTIONAL HAZARDS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Right-censored survival model — honours un-resolved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E11D48"/>
                </a:solidFill>
                <a:latin typeface="Calibri"/>
              </a:rPr>
              <a:t>Naïve: drop the 1,007 still-active rows.  Loses a third of the data and biases the mean downward.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CityFlow: Cox PH with right-censoring via the lifelines library.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For each row: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T = (close_time − start_time) in minutes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E = 1 if close_time observed,  0 if censored at the observation 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685800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Covariates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vehicle type (BMTC bus, heavy, LCV)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corridor class (highway vs non-corridor)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requires_road_closure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hour_sin / hour_cos (cyclical)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L2 penalty = 0.1 for stability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8392" y="4114800"/>
            <a:ext cx="3931920" cy="2194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42062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C-INDEX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452628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D4ED8"/>
                </a:solidFill>
                <a:latin typeface="Calibri"/>
              </a:rPr>
              <a:t>0.55 – 0.70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44068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334155"/>
                </a:solidFill>
                <a:latin typeface="Calibri"/>
              </a:rPr>
              <a:t>Probability that the model correctly orders two random incidents by clearance time. Better than chance, not a replacement for local knowledge.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ML #3 · LABSE MULTILINGUAL NLP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Kannada, English, mixed — one model, one embedding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LaBSE = Language-agnostic BERT Sentence Embedding.  90 MB, 768-dim, multilingual, CPU-safe.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Kannada 'ನಿಧಾನ' (slow) and English 'heavy traffic' land close together in embedding space.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We attach a logistic regression head trained on weak labels extracted from the descriptions themselves.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5778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164592" cy="24688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"/>
              </a:rPr>
              <a:t>Disrupted keywords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50292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"slow", "closed", "blocked", "gridlock", "heavy",
"ನಿಧಾನ" (slow), "ಸಮಸ್ಯ" (problem),
"ನಿಂತಿದೆ" (stopped), "ಕ್ಲೋಸ್" (close)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840480"/>
            <a:ext cx="5394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840480"/>
            <a:ext cx="164592" cy="24688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Contained keywords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297680"/>
            <a:ext cx="50292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"no problem", "normal",
"moving", "clear", "cleared"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ML #4 · MANPOWER LINEAR ALLOCATOR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 learnable 5-weight function that refits from your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91672" cy="18288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OFFICERS PER BARRICADE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10916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0F172A"/>
                </a:solidFill>
                <a:latin typeface="Consolas"/>
              </a:rPr>
              <a:t>intercept
+ w_severity  × severity_score
+ w_attendance × (expected_attendance / 1000)
+ w_rush_hour  × is_rush_hour
+ w_closure    × requires_closure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109167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334155"/>
                </a:solidFill>
                <a:latin typeface="Calibri"/>
              </a:rPr>
              <a:t>Default weights (hand-tuned)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0.5  ·  0.35  ·  0.15  ·  1.2  ·  2.0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334155"/>
                </a:solidFill>
                <a:latin typeface="Calibri"/>
              </a:rPr>
              <a:t>How the weights learn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After every 10 feedback entries, CityFlow runs np.linalg.lstsq on the operator-supplied outcomes.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New weights are persisted to manpower_weights.json and used for every subsequent event.</a:t>
            </a:r>
          </a:p>
          <a:p>
            <a:pPr algn="l">
              <a:lnSpc>
                <a:spcPct val="125000"/>
              </a:lnSpc>
            </a:pPr>
            <a:r>
              <a:rPr sz="1300" b="1" i="1">
                <a:solidFill>
                  <a:srgbClr val="1D4ED8"/>
                </a:solidFill>
                <a:latin typeface="Calibri"/>
              </a:rPr>
              <a:t>The 20th event is calibrated on your corridor, your operator, your truth — not the city-wide mean.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ML #5 · POST-EVENT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No catastrophic forgetting. The base set only ever grows.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164592" cy="42062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11D48"/>
                </a:solidFill>
                <a:latin typeface="Calibri"/>
              </a:rPr>
              <a:t>The naïve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Refit the logistic head on only the latest 10 feedback rows.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After 50 feedback entries the model has seen the 50 most-recent operator labels and nothing else.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E11D48"/>
                </a:solidFill>
                <a:latin typeface="Calibri"/>
              </a:rPr>
              <a:t>Classic catastrophic forgetting — the original weak-labelled descriptions are silently dropped.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828800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828800"/>
            <a:ext cx="164592" cy="4206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CityFlow's 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7744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Concatenate, never replace.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X_train = vstack(X_original_weak_labels, X_feedback)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y_train = concat(y_original_weak_labels, y_feedback)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Re-fit the classifier on the full set. Re-save the augmented matrix to nlp_model.pkl.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59669"/>
                </a:solidFill>
                <a:latin typeface="Calibri"/>
              </a:rPr>
              <a:t>The base set grows by exactly the number of feedback rows each cycle. No forgetting — the model gets both more accurate and more durable.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ML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IMPACT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Quantify the cost of the event before it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Four outputs, before the event: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Quantifies what the event will cost the city, not just how long the incident itself will take.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64592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Affected vehicle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Sum of vehicle throughput across all identified flows, scaled by route length.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338328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3383280"/>
            <a:ext cx="164592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3566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Person-delay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41605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Affected vehicles × average delay per vehicle.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338328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3383280"/>
            <a:ext cx="164592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566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Queue length (metres)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1605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spillover_radius × √duration_hours × 0.6  →  queue grows as √duration.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338328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3383280"/>
            <a:ext cx="164592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6" y="3566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Area Congestion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41605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0–1 score combining closed edges, spillback, and attendance.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Response tier (Green / Amber / Red) is derived from a weighted sum of ACI + total delay + attendance — not just from the cause.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1 ·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ASYNCHRONOUS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Flask + threading + SQLite, no Celery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54864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920240"/>
            <a:ext cx="21031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19202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92024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92024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POST /api/simulate/&lt;id&gt;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548640" cy="7772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8892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2788920"/>
            <a:ext cx="21031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78892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Flask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78892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78892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Generate task_id, spawn thread, return 202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54864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3657600"/>
            <a:ext cx="21031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36576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Background thread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6576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365760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Load subgraph, BPR shockwave, evaluate, render Folium, write to tasks 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26280"/>
            <a:ext cx="54864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4526280"/>
            <a:ext cx="21031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52628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52628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52628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Poll GET /api/status/&lt;task_id&gt; every 2 seconds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94960"/>
            <a:ext cx="5486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39496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5394960"/>
            <a:ext cx="21031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39496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Result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53949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539496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Next poll returns { status: 'success', result_json: …, map_url: …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093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Same pattern as Celery+Redis, but single-process SQLite — perfect for a single traffic-control-room deployment, zero new infrastructure.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468880"/>
            <a:ext cx="73152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UI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Every visible feature, in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UI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UI TOUR · WHAT THE USER SEES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Every screen, in 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Home screen — Welcome to CityFlow, three tiles (Load demo · Create your own · Past hotspots).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Sidebar — event list with badges (Planned / Unplanned / Closure / Custom), search by cause.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Story view — five numbered steps: Situation → Impact → Maps → Plan → Feedback.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Plan view — same data in one dense screen, no narrative cards.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Help modal — three tabs: Glossary · FAQ · About, with plain-language definitions of every metric.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Theme toggle — Sun / Moon icon, persisted to localStorage, no flash on reload.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Map iframes — real Folium renders: original route (red), AI diversion (cyan), barricades (orange).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Past hotspots — historical heatmap with top-20 junctions overlaid.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•  Feedback panel — operator logs actual outcome, retrain fires every 10 entries.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UI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STORY VIEW · 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What is happening — Situation 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Hero section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Blue flag icon (40px rounded square, blue-50 bg, blue-700 ring)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Event cause in 18px bold, with Planned / Unplanned / Closure pills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Metadata line: 📅 datetime  ·  👥 attendance  ·  📍 roads_affected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Severity pill (top-right)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Green: 'All clear'  ·  Amber: 'Heads up'  ·  Red: 'Urgent action'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Headline + resolution label + model confidence note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'This event will cause moderate disruption. Expected to take about ~2.0 hrs to clear.'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Radio / log report with NLP-flagged words highlighted in rose</a:t>
            </a:r>
          </a:p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87% likely to disrupt traffic — output of the LaBSE classifier, paired with the highlighted tokens.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UI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21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STORY VIEW · 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How bad is it? — Impact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Card has a left-border accent whose colour matches the severity: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rose-600 (Red)  ·  amber-600 (Amber)  ·  emerald-600 (Green)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2x2 grid of stat tiles, every one with a hover tooltip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137160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How long to 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~2.0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Worst-case ~13h 21m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411480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4114800"/>
            <a:ext cx="137160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4251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People delayed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60,000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983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~4,000 vehicles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22392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422392"/>
            <a:ext cx="137160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595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Backed-up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795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848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291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metres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5422392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5422392"/>
            <a:ext cx="137160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55595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Congestion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8795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23%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6291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0–1 index → percent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UI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22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STORY VIEW · STEP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What does the city look like — Map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Three tabs in a small pill strip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Side-by-side (default) — two iframes, left = chaos, right = CityFlow plan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Plan only — single iframe of the recommended plan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Past hotspots — single iframe of the historical heatmap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Map layers (Folium, dark CartoDB basemap)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348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800600"/>
            <a:ext cx="274320" cy="5486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70916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Original route (red)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07492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will get stuck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44348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9312" y="4800600"/>
            <a:ext cx="27432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0792" y="470916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AI diversion (cyan)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2" y="507492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recommended alternative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44348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55664" y="4800600"/>
            <a:ext cx="27432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7144" y="470916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Barricade (orange)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507492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police checkpoint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44348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72016" y="4800600"/>
            <a:ext cx="274320" cy="5486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3496" y="470916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Event location (red)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6" y="507492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epicenter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UI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23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STORY VIEW · STEP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What does CityFlow recommend — Resource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91672" cy="13716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WITH THIS PLAN, THE AVERAGE TRIP THROUGH THE AREA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59669"/>
                </a:solidFill>
                <a:latin typeface="Calibri"/>
              </a:rPr>
              <a:t>874.3 min faster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34155"/>
                </a:solidFill>
                <a:latin typeface="Calibri"/>
              </a:rPr>
              <a:t>85.7% less delay per trip across 3 main traffic routes.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3611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Officers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11 per barricade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3520440"/>
            <a:ext cx="3611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033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Barricades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0233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5720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4 validated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0144" y="3520440"/>
            <a:ext cx="3611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37033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40233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8h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45720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352 officer-hrs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110916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334155"/>
                </a:solidFill>
                <a:latin typeface="Calibri"/>
              </a:rPr>
              <a:t>Plus: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Routes protected — list of up to 3 flow IDs, with time saved per flow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Barricade locations — lat/lon in monospace, with validation reason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Urgency note — amber-bordered callout with response-level guidance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UI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24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STORY VIEW · STEP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After it ends — Feedback panel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1" i="1">
                <a:solidFill>
                  <a:srgbClr val="1D4ED8"/>
                </a:solidFill>
                <a:latin typeface="Calibri"/>
              </a:rPr>
              <a:t>The most important step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Six fields: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Actual resolution minutes (numeric, predicted value pre-filled as placeholder)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Observed severity dropdown — Green / Amber / Red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Officers actually used (numeric)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Barricades actually used (numeric)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Diversion plan worked? — Yes / No pill radio cards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 Free-text notes (optional)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On submit → POST /api/feedback → SQLite feedback table</a:t>
            </a:r>
          </a:p>
          <a:p>
            <a:pPr algn="l">
              <a:lnSpc>
                <a:spcPct val="125000"/>
              </a:lnSpc>
            </a:pPr>
            <a:r>
              <a:rPr sz="1400" b="1" i="1">
                <a:solidFill>
                  <a:srgbClr val="1D4ED8"/>
                </a:solidFill>
                <a:latin typeface="Calibri"/>
              </a:rPr>
              <a:t>Every 10 entries → background thread re-fits NLP + manpower weights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UI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25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ACROSS THE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Recurring UI primitives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SeverityBadge (3 colour levels × 2 sizes)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Pill with coloured ring + dot — Green, Amber, Red.  Small (titles) and large (situation hero).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EventTypeBadge (Planned / Unplanned)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Pill with calendar (violet) or triangle (orange) icon.  Same shape in the sidebar and the situation card.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Hint tooltips (ⓘ)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Hover over any ⓘ icon → plain-language explanation.  No jargon left unexplained.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Severity left-border card accent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Cards use a 4px coloured left border instead of a tinted background — calm, data-dense, command-centre look.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Glassmorphism sidebar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Sidebar uses bg-white/75 + backdrop-blur so the map shows through subtly.  Light or dark, looks the same.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Dark mode toggle (Sun / Moon in the header)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34155"/>
                </a:solidFill>
                <a:latin typeface="Calibri"/>
              </a:rPr>
              <a:t>One click, every surface repaints.  Persisted to localStorage.  No flash on reload.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UI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26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90-SECOND 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Click-by-click script for the video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916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2880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Land on the home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Welcome to CityFlow · Load demo · Create your own · See past hotspots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11091672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0:08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24028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Click Load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4028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Three scenarios injected, first auto-selects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110916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5176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0:15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5176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Step 1 — Situation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65176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Severity pill · headline · NLP highlight in radio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63240"/>
            <a:ext cx="11091672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6324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0:25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06324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Step 2 —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06324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60,000 person-delay min · 848m queue · 23% congestion · 702 nearby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74720"/>
            <a:ext cx="110916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47472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0:40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47472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Step 3 — Maps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7472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Two iframes load · red chaos vs. green plan · cyan diversion, orange barricades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86200"/>
            <a:ext cx="11091672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8620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0:55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88620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Step 4 —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88620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874.3 min faster · 44 officers · 4 barricades · 8h shift · 3 routes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110916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9768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1:10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29768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Step 5 —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29768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Type 180 min · pick Amber · type 42 officers · save · green toast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709160"/>
            <a:ext cx="11091672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70916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1:25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470916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Toggle to Plan 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70916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Everything collapses to one dense screen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120640"/>
            <a:ext cx="110916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12064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1:30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512064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Click Sun icon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12064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One click, dark mode · every surface, every border repaints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532120"/>
            <a:ext cx="11091672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53212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1:35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553212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Open Help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53212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Glossary · FAQ · About · close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943600"/>
            <a:ext cx="110916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943600"/>
            <a:ext cx="822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1:50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594360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Click 'All events'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5943600"/>
            <a:ext cx="6858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Back to the home screen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2 · API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27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THE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Every screen is backed by a single JSON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288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it returns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240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40280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List top events + operator scenarios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70048"/>
            <a:ext cx="1109167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7004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7004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/api/severity/&lt;id&gt;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670048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Severity, clearance forecast, NLP, nearby history, impact forecast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99816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9981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09981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/api/simulate/&lt;id&gt;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099816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Async task · returns task_id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29584"/>
            <a:ext cx="1109167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529584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52958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/api/status/&lt;task_id&gt;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529584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Poll for simulation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59352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59352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95935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959352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Record outcome · triggers retrain every 10 entries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89120"/>
            <a:ext cx="1109167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38912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3891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/api/feedback/summary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389120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Total outcomes · mean resolution error · diversion success 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818888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81888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481888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/api/hotspots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818888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Top 20 junctions · temporal patterns · heatmap URL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248656"/>
            <a:ext cx="1109167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24865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524865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/api/realtime/incidents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248656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Historical-replay live feed (as_of=ISO)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678424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678424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POST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567842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/api/scenarios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678424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Create a what-if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6108192"/>
            <a:ext cx="1109167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6108192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onsolas"/>
              </a:rPr>
              <a:t>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61081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/api/scenarios/demo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6108192"/>
            <a:ext cx="6976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Load the three demo events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468880"/>
            <a:ext cx="73152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Limits, pillars, and the bottom 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3 ·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28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Be honest about what CityFlow is and is not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E11D48"/>
                </a:solidFill>
                <a:latin typeface="Calibri"/>
              </a:rPr>
              <a:t>NLP requires ~2 GB RAM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On 4 GB servers, deploy/patch_nlp.py disables it.  The system still works — disrupted_prob falls back to 0.5.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E11D48"/>
                </a:solidFill>
                <a:latin typeface="Calibri"/>
              </a:rPr>
              <a:t>No live traffic feed in the prototype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The RealtimeFeed interface is in place.  Swap in HERE / TomTom / a CCTV pipeline with a single class change.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E11D48"/>
                </a:solidFill>
                <a:latin typeface="Calibri"/>
              </a:rPr>
              <a:t>First start is slow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OSMnx downloads the Bengaluru graph on first run.  After that it's a 170 MB cache file.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E11D48"/>
                </a:solidFill>
                <a:latin typeface="Calibri"/>
              </a:rPr>
              <a:t>Cox PH C-index: 0.55–0.70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Better than chance, not a replacement for a human dispatcher's local knowledge.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E11D48"/>
                </a:solidFill>
                <a:latin typeface="Calibri"/>
              </a:rPr>
              <a:t>Not a microscopic simulator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34155"/>
                </a:solidFill>
                <a:latin typeface="Calibri"/>
              </a:rPr>
              <a:t>CityFlow is a graph-based intervention planner.  It will not tell you the exact trajectory of a specific car — that is SUMO/AIMSUN territory.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  <a:latin typeface="Calibri"/>
              </a:rPr>
              <a:t>PART 3 ·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CityFlow — Event-Driven Congestion Intelligence for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65392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29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THE FOUR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Forecast, route, deploy, learn — all real, all measured, all auditable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864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164592" cy="2194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BPR reverse-BFS shockwave
Cox PH survival · LaBSE NLP
Impact forecast before the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4748B"/>
                </a:solidFill>
                <a:latin typeface="Consolas"/>
              </a:rPr>
              <a:t>src/simulator/simulator.py
src/simulator/survival_model.py
src/simulator/impact_forecast.py
src/simulator/nlp_impact.py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82880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828800"/>
            <a:ext cx="164592" cy="2194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965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77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Volume-aware flow selection
Police compliance model
BPR + V/C penalty · Dijkstra on the adjusted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429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4748B"/>
                </a:solidFill>
                <a:latin typeface="Consolas"/>
              </a:rPr>
              <a:t>src/simulator/simulator.py
(find_affected_flows · calculate_diversion)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164592" cy="2194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Continuous-flow barricades
Manpower linear formula
Validated locations · refit from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4748B"/>
                </a:solidFill>
                <a:latin typeface="Consolas"/>
              </a:rPr>
              <a:t>src/simulator/simulator.py
(recommend_barricades · validate_barricades)
src/simulator/manpower.py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20624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4206240"/>
            <a:ext cx="164592" cy="2194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343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7548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Feedback → SQLite
Every 10 entries → background thread
No catastrophic forgetting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8064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4748B"/>
                </a:solidFill>
                <a:latin typeface="Consolas"/>
              </a:rPr>
              <a:t>src/api/app.py
(/api/feedback + retrain hook)
src/simulator/nlp_impact.py
src/simulator/manpower.py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73152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CityFlow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CBD5E1"/>
                </a:solidFill>
                <a:latin typeface="Calibri"/>
              </a:rPr>
              <a:t>Takes 8,205 historical Bengaluru traffic events,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CBD5E1"/>
                </a:solidFill>
                <a:latin typeface="Calibri"/>
              </a:rPr>
              <a:t>the city's own road network, and the operator's own radio reports,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CBD5E1"/>
                </a:solidFill>
                <a:latin typeface="Calibri"/>
              </a:rPr>
              <a:t>and turns them into a data-driven playbook</a:t>
            </a:r>
          </a:p>
          <a:p>
            <a:pPr algn="l">
              <a:lnSpc>
                <a:spcPct val="140000"/>
              </a:lnSpc>
              <a:spcAft>
                <a:spcPts val="24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for the next rally, the next breakdown, the next festival.</a:t>
            </a:r>
          </a:p>
          <a:p>
            <a:pPr algn="l">
              <a:lnSpc>
                <a:spcPct val="125000"/>
              </a:lnSpc>
            </a:pPr>
            <a:r>
              <a:rPr sz="1800" b="1" i="1">
                <a:solidFill>
                  <a:srgbClr val="2563EB"/>
                </a:solidFill>
                <a:latin typeface="Calibri"/>
              </a:rPr>
              <a:t>Mathematical routing intelligence — not just coloured lines on a map.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